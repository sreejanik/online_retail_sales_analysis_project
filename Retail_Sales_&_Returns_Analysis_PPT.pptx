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Lucida Bright" panose="02040602050505020304" pitchFamily="18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70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709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C74C4-4510-B828-7E28-ED7527ED2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B296F-D58A-6793-B5F1-5DF91B3FE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F192A-6317-A37C-0C03-770C6AED1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98032-EC19-03DF-0AA5-91B039FDF3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67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mashlyn/online-retail-ii-uci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kukudala.sreejani/viz/RetailSalesReturnsAnalysisDashboard/Dashboard52?publish=ye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432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Retail Sales &amp; Returns Analysis</a:t>
            </a:r>
            <a:endParaRPr lang="en-US" sz="4450" dirty="0">
              <a:latin typeface="Lucida Bright" panose="020406020505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10098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A data analytics project exploring sales performance, revenue drivers, and return behaviour using Python &amp; Tableau — based on the </a:t>
            </a:r>
            <a:r>
              <a:rPr lang="en-US" sz="1750" u="sng" dirty="0">
                <a:solidFill>
                  <a:srgbClr val="84482D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UCI Online Retail II dataset</a:t>
            </a: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.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0190" y="5452467"/>
            <a:ext cx="1256705" cy="426244"/>
          </a:xfrm>
          <a:prstGeom prst="roundRect">
            <a:avLst>
              <a:gd name="adj" fmla="val 6386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16278" y="5520452"/>
            <a:ext cx="98452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K. SREEJANI</a:t>
            </a:r>
            <a:endParaRPr lang="en-US" sz="1400" dirty="0">
              <a:latin typeface="Lucida Bright" panose="020406020505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650242" y="5444847"/>
            <a:ext cx="2865358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844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793950" y="5520452"/>
            <a:ext cx="236612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84482D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KAGGLE . PYTHON · TABLEAU</a:t>
            </a:r>
            <a:endParaRPr lang="en-US" sz="140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8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Project Blueprint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783794"/>
            <a:ext cx="84372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What This Presentation Covers</a:t>
            </a:r>
            <a:endParaRPr lang="en-US" sz="4450" dirty="0">
              <a:latin typeface="Lucida Bright" panose="020406020505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83273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Prata Light" pitchFamily="34" charset="-122"/>
                <a:cs typeface="Prata Light" pitchFamily="34" charset="-120"/>
              </a:rPr>
              <a:t>01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187779"/>
            <a:ext cx="6407944" cy="30480"/>
          </a:xfrm>
          <a:prstGeom prst="rect">
            <a:avLst/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93790" y="3362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Dataset &amp; Context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3852505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Source, scope, and structure of the UCI Online Retail II dataset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28548" y="283273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Prata Light" pitchFamily="34" charset="-122"/>
                <a:cs typeface="Prata Light" pitchFamily="34" charset="-120"/>
              </a:rPr>
              <a:t>02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28548" y="3187779"/>
            <a:ext cx="6408063" cy="30480"/>
          </a:xfrm>
          <a:prstGeom prst="rect">
            <a:avLst/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28548" y="3362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Data Preprocessing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28548" y="3852505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Cleaning, feature engineering, and separation of sales vs. returns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49751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Prata Light" pitchFamily="34" charset="-122"/>
                <a:cs typeface="Prata Light" pitchFamily="34" charset="-120"/>
              </a:rPr>
              <a:t>03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3790" y="5330190"/>
            <a:ext cx="6407944" cy="30480"/>
          </a:xfrm>
          <a:prstGeom prst="rect">
            <a:avLst/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93790" y="5504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Exploratory Analysis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3790" y="5994916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Sales, revenue, and returns deep-dive with key findings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28548" y="49751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Prata Light" pitchFamily="34" charset="-122"/>
                <a:cs typeface="Prata Light" pitchFamily="34" charset="-120"/>
              </a:rPr>
              <a:t>04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28548" y="5330190"/>
            <a:ext cx="6408063" cy="30480"/>
          </a:xfrm>
          <a:prstGeom prst="rect">
            <a:avLst/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28548" y="5504498"/>
            <a:ext cx="29617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Dashboard &amp; Insights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28548" y="5994916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Tableau visualisations, KPIs, and actionable recommendations</a:t>
            </a:r>
            <a:endParaRPr lang="en-US" sz="175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574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The Dataset: UK Online Retail</a:t>
            </a:r>
            <a:endParaRPr lang="en-US" sz="4450" dirty="0">
              <a:latin typeface="Lucida Bright" panose="020406020505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6419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Why This Dataset?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3223141"/>
            <a:ext cx="3501509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Times New Roman" panose="02020603050405020304" pitchFamily="18" charset="0"/>
              </a:rPr>
              <a:t>A real-world UK-based gift retailer serving both </a:t>
            </a:r>
            <a:r>
              <a:rPr lang="en-US" sz="1750" b="1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Times New Roman" panose="02020603050405020304" pitchFamily="18" charset="0"/>
              </a:rPr>
              <a:t>individual consumers and wholesale buyers</a:t>
            </a: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Times New Roman" panose="02020603050405020304" pitchFamily="18" charset="0"/>
              </a:rPr>
              <a:t> — making it an ideal candidate for hybrid business analysis. With over </a:t>
            </a:r>
            <a:r>
              <a:rPr lang="en-US" sz="1750" b="1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Times New Roman" panose="02020603050405020304" pitchFamily="18" charset="0"/>
              </a:rPr>
              <a:t>1 million transaction records</a:t>
            </a: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Times New Roman" panose="02020603050405020304" pitchFamily="18" charset="0"/>
              </a:rPr>
              <a:t>, it offers rich signal across time, geography, and customer behaviour.</a:t>
            </a:r>
            <a:endParaRPr lang="en-US" sz="1750" dirty="0">
              <a:latin typeface="Lucida Bright" panose="020406020505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856321" y="2670334"/>
            <a:ext cx="3501509" cy="1397675"/>
          </a:xfrm>
          <a:prstGeom prst="roundRect">
            <a:avLst>
              <a:gd name="adj" fmla="val 2434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083135" y="28971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1,067,371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83135" y="3478292"/>
            <a:ext cx="30478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Total records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856321" y="4294823"/>
            <a:ext cx="3501509" cy="1397675"/>
          </a:xfrm>
          <a:prstGeom prst="roundRect">
            <a:avLst>
              <a:gd name="adj" fmla="val 2434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083135" y="45216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8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83135" y="5102781"/>
            <a:ext cx="30478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Columns / features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856321" y="5919311"/>
            <a:ext cx="3501509" cy="1397675"/>
          </a:xfrm>
          <a:prstGeom prst="roundRect">
            <a:avLst>
              <a:gd name="adj" fmla="val 2434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083135" y="61461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UK-based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083135" y="6727269"/>
            <a:ext cx="30478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Primary market</a:t>
            </a:r>
            <a:endParaRPr lang="en-US" sz="175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067" y="572095"/>
            <a:ext cx="7090648" cy="65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Data Preprocessing Pipeline</a:t>
            </a:r>
            <a:endParaRPr lang="en-US" sz="4050" dirty="0">
              <a:latin typeface="Lucida Bright" panose="020406020505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28067" y="1603891"/>
            <a:ext cx="13174266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Raw transactional data required rigorous cleaning before meaningful analysis could begin.</a:t>
            </a:r>
            <a:endParaRPr lang="en-US" sz="1600" dirty="0">
              <a:latin typeface="Lucida Bright" panose="020406020505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655" y="2137529"/>
            <a:ext cx="10244971" cy="46888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24151" y="3308197"/>
            <a:ext cx="658706" cy="6587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37284" y="5527625"/>
            <a:ext cx="1923422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Feature Engineer</a:t>
            </a:r>
            <a:endParaRPr lang="en-US" sz="2300" dirty="0">
              <a:latin typeface="Lucida Bright" panose="020406020505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2667" y="3309432"/>
            <a:ext cx="658707" cy="6587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13245" y="5527625"/>
            <a:ext cx="1923423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Separate Sales</a:t>
            </a:r>
            <a:endParaRPr lang="en-US" sz="2300" dirty="0">
              <a:latin typeface="Lucida Bright" panose="02040602050505020304" pitchFamily="18" charset="0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1802" y="3309432"/>
            <a:ext cx="658706" cy="65870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202379" y="5527625"/>
            <a:ext cx="1923423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Handle Missing</a:t>
            </a:r>
            <a:endParaRPr lang="en-US" sz="2300" dirty="0">
              <a:latin typeface="Lucida Bright" panose="02040602050505020304" pitchFamily="18" charset="0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7763" y="3309432"/>
            <a:ext cx="658706" cy="65870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738818" y="5527625"/>
            <a:ext cx="1923422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Remove Invalids</a:t>
            </a:r>
            <a:endParaRPr lang="en-US" sz="2300" dirty="0">
              <a:latin typeface="Lucida Bright" panose="02040602050505020304" pitchFamily="18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728067" y="7040999"/>
            <a:ext cx="13174266" cy="637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This structured pipeline ensured every downstream analysis — sales, revenue, and returns — operated on clean, purpose-built datasets, eliminating distortions from over 80,000 negative-quantity entries and erroneous pricing records.</a:t>
            </a:r>
            <a:endParaRPr lang="en-US" sz="160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812" y="644009"/>
            <a:ext cx="333613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Chapter 1 · Sales Analysis</a:t>
            </a:r>
            <a:endParaRPr lang="en-US" sz="2150" dirty="0">
              <a:latin typeface="Lucida Bright" panose="020406020505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0812" y="1080254"/>
            <a:ext cx="11341179" cy="697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Strong Seasonality, Hybrid Customer Base</a:t>
            </a:r>
            <a:endParaRPr lang="en-US" sz="4350" dirty="0">
              <a:latin typeface="Lucida Bright" panose="020406020505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12" y="2870597"/>
            <a:ext cx="7078980" cy="39509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1766" y="2326005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Key Findings</a:t>
            </a:r>
            <a:endParaRPr lang="en-US" sz="2150" dirty="0">
              <a:latin typeface="Lucida Bright" panose="020406020505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5467" y="2932390"/>
            <a:ext cx="334566" cy="3345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36737" y="2921318"/>
            <a:ext cx="4720352" cy="1061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Q4 surge:</a:t>
            </a: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 Sales spike sharply in November, driven by holiday-season demand — the single strongest month across both years.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5467" y="4433173"/>
            <a:ext cx="334566" cy="3345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36737" y="4422100"/>
            <a:ext cx="4720352" cy="1061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Order volume mirrors revenue:</a:t>
            </a: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 Transaction counts closely track revenue trends, confirming volume as a primary growth lever.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5467" y="5933956"/>
            <a:ext cx="334566" cy="3345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36737" y="5922883"/>
            <a:ext cx="4720352" cy="1415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Bulk transactions present:</a:t>
            </a: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 The mix of retail and wholesale buyers inflates order sizes, making average metrics less representative on their own.</a:t>
            </a:r>
            <a:endParaRPr lang="en-US" sz="175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6107" y="485894"/>
            <a:ext cx="3050858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Chapter 2 · Revenue Analysis</a:t>
            </a:r>
            <a:endParaRPr lang="en-US" sz="1700" dirty="0">
              <a:latin typeface="Lucida Bright" panose="020406020505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36107" y="815816"/>
            <a:ext cx="8794194" cy="55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Revenue Concentration &amp; AOV Dynamics</a:t>
            </a:r>
            <a:endParaRPr lang="en-US" sz="3450" dirty="0">
              <a:latin typeface="Lucida Bright" panose="020406020505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36107" y="3168610"/>
            <a:ext cx="2407801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What Drives Revenue?</a:t>
            </a:r>
            <a:endParaRPr lang="en-US" sz="1700" dirty="0">
              <a:latin typeface="Lucida Bright" panose="020406020505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36107" y="3580686"/>
            <a:ext cx="5864066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Revenue is shaped by two forces: </a:t>
            </a:r>
            <a:r>
              <a:rPr lang="en-US" sz="1350" b="1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order volume</a:t>
            </a:r>
            <a:r>
              <a:rPr lang="en-US" sz="13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 and </a:t>
            </a:r>
            <a:r>
              <a:rPr lang="en-US" sz="1350" b="1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average order value (AOV)</a:t>
            </a:r>
            <a:r>
              <a:rPr lang="en-US" sz="13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. Peak months see both rise simultaneously, while quieter months expose AOV volatility — a signal of inconsistent spending behaviour outside the holiday cycle.</a:t>
            </a:r>
            <a:endParaRPr lang="en-US" sz="1350" dirty="0">
              <a:latin typeface="Lucida Bright" panose="020406020505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36107" y="4736187"/>
            <a:ext cx="5864066" cy="1393388"/>
          </a:xfrm>
          <a:prstGeom prst="roundRect">
            <a:avLst>
              <a:gd name="adj" fmla="val 1897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200" y="4992529"/>
            <a:ext cx="220147" cy="1760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08440" y="4916924"/>
            <a:ext cx="5115639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Revenue is </a:t>
            </a:r>
            <a:r>
              <a:rPr lang="en-US" sz="1350" b="1" dirty="0">
                <a:solidFill>
                  <a:srgbClr val="FFFFFF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highly concentrated</a:t>
            </a:r>
            <a:r>
              <a:rPr lang="en-US" sz="1350" dirty="0">
                <a:solidFill>
                  <a:srgbClr val="FFFFFF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 — a small number of customers and the United Kingdom as a geography account for the majority of total revenue. This dual dependency is both a competitive strength and a strategic risk.</a:t>
            </a:r>
            <a:endParaRPr lang="en-US" sz="1350" dirty="0">
              <a:latin typeface="Lucida Bright" panose="020406020505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609" y="1725692"/>
            <a:ext cx="5864066" cy="5864066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7609" y="1725692"/>
            <a:ext cx="5864066" cy="58640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5189"/>
            <a:ext cx="38278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Chapter 3 · Returns Analysis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60245"/>
            <a:ext cx="107753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Returns Are Low, Stable &amp; Proportional</a:t>
            </a:r>
            <a:endParaRPr lang="en-US" sz="4450" dirty="0">
              <a:latin typeface="Lucida Bright" panose="020406020505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1225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3.5%</a:t>
            </a:r>
            <a:endParaRPr lang="en-US" sz="5850" dirty="0">
              <a:latin typeface="Lucida Bright" panose="020406020505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55420" y="41543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Overall Return Rate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64474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Returns as a share of total revenue — well below industry benchmarks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35893" y="31225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↑ Q4</a:t>
            </a:r>
            <a:endParaRPr lang="en-US" sz="5850" dirty="0">
              <a:latin typeface="Lucida Bright" panose="020406020505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897523" y="41543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Peak Return Period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35893" y="464474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Returns rise during high-sales months but remain proportionally stable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77995" y="31225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≠ Top</a:t>
            </a:r>
            <a:endParaRPr lang="en-US" sz="5850" dirty="0">
              <a:latin typeface="Lucida Bright" panose="020406020505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26754" y="4154329"/>
            <a:ext cx="3060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Distinct Return Profile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77995" y="4644747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Returned products and returning customers differ from top revenue contributors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3790" y="598860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The proportional stability of returns signals consistent operational performance — the business is not experiencing a systemic quality or fulfilment issue, even during high-volume periods.</a:t>
            </a:r>
            <a:endParaRPr lang="en-US" sz="175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88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Tableau Dashboard</a:t>
            </a:r>
            <a:endParaRPr lang="en-US" sz="4450" dirty="0">
              <a:latin typeface="Lucida Bright" panose="020406020505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36124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An interactive dashboard was built in Tableau to consolidate all findings into a single, navigable view. Explore it live: </a:t>
            </a:r>
            <a:r>
              <a:rPr lang="en-US" sz="1750" u="sng" dirty="0">
                <a:solidFill>
                  <a:srgbClr val="84482D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Retail Sales &amp; Returns Analysis Dashboard →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342203"/>
            <a:ext cx="6407944" cy="1730812"/>
          </a:xfrm>
          <a:prstGeom prst="roundRect">
            <a:avLst>
              <a:gd name="adj" fmla="val 1966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51084" y="35994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KPI Strip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084" y="408991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Total Revenue · Total Orders · Total Customers · Return Rate — at a glance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8548" y="3342203"/>
            <a:ext cx="6408063" cy="1730812"/>
          </a:xfrm>
          <a:prstGeom prst="roundRect">
            <a:avLst>
              <a:gd name="adj" fmla="val 1966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685842" y="35994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Revenue by Country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85842" y="408991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Geographic concentration of revenue, dominated by the United Kingdom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3790" y="5299829"/>
            <a:ext cx="6407944" cy="1730812"/>
          </a:xfrm>
          <a:prstGeom prst="roundRect">
            <a:avLst>
              <a:gd name="adj" fmla="val 1966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51084" y="5557123"/>
            <a:ext cx="3204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Revenue &amp; AOV Trends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1084" y="6047542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Monthly income and average order value tracked across the full period</a:t>
            </a:r>
            <a:endParaRPr lang="en-US" sz="1750" dirty="0">
              <a:latin typeface="Lucida Bright" panose="020406020505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28548" y="5299829"/>
            <a:ext cx="6408063" cy="1730812"/>
          </a:xfrm>
          <a:prstGeom prst="roundRect">
            <a:avLst>
              <a:gd name="adj" fmla="val 1966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685842" y="55571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Returns Trend</a:t>
            </a:r>
            <a:endParaRPr lang="en-US" sz="2200" dirty="0">
              <a:latin typeface="Lucida Bright" panose="020406020505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85842" y="6047542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Return quantities over time with Revenue vs. Returns comparison view</a:t>
            </a:r>
            <a:endParaRPr lang="en-US" sz="175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774" y="1204793"/>
            <a:ext cx="2259211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Turning Insights Into Action</a:t>
            </a:r>
            <a:endParaRPr lang="en-US" sz="1300" dirty="0">
              <a:latin typeface="Lucida Bright" panose="020406020505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75774" y="1449586"/>
            <a:ext cx="3398639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Recommendations</a:t>
            </a:r>
            <a:endParaRPr lang="en-US" sz="2650" dirty="0">
              <a:latin typeface="Lucida Bright" panose="020406020505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75774" y="1996559"/>
            <a:ext cx="8192453" cy="1195983"/>
          </a:xfrm>
          <a:prstGeom prst="roundRect">
            <a:avLst>
              <a:gd name="adj" fmla="val 1705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11624" y="2132409"/>
            <a:ext cx="407789" cy="407789"/>
          </a:xfrm>
          <a:prstGeom prst="roundRect">
            <a:avLst>
              <a:gd name="adj" fmla="val 22421119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781" y="2244447"/>
            <a:ext cx="183475" cy="1834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1624" y="2621637"/>
            <a:ext cx="2042160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Capitalise on Seasonality</a:t>
            </a:r>
            <a:endParaRPr lang="en-US" sz="1300" dirty="0">
              <a:latin typeface="Lucida Bright" panose="020406020505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11624" y="2882741"/>
            <a:ext cx="7920752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Front-load inventory and marketing investment ahead of Q4 to maximise the November–December revenue window.</a:t>
            </a:r>
            <a:endParaRPr lang="en-US" sz="1050" dirty="0">
              <a:latin typeface="Lucida Bright" panose="020406020505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75774" y="3273981"/>
            <a:ext cx="8192453" cy="1195983"/>
          </a:xfrm>
          <a:prstGeom prst="roundRect">
            <a:avLst>
              <a:gd name="adj" fmla="val 1705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611624" y="3409831"/>
            <a:ext cx="407789" cy="407789"/>
          </a:xfrm>
          <a:prstGeom prst="roundRect">
            <a:avLst>
              <a:gd name="adj" fmla="val 22421119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781" y="3521869"/>
            <a:ext cx="183475" cy="1834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1624" y="3899059"/>
            <a:ext cx="1699260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Diversify Geography</a:t>
            </a:r>
            <a:endParaRPr lang="en-US" sz="1300" dirty="0">
              <a:latin typeface="Lucida Bright" panose="020406020505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11624" y="4160163"/>
            <a:ext cx="7920752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Reduce over-dependence on the UK market by targeting expansion into high-potential international markets.</a:t>
            </a:r>
            <a:endParaRPr lang="en-US" sz="1050" dirty="0">
              <a:latin typeface="Lucida Bright" panose="020406020505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75774" y="4551402"/>
            <a:ext cx="8192453" cy="1195983"/>
          </a:xfrm>
          <a:prstGeom prst="roundRect">
            <a:avLst>
              <a:gd name="adj" fmla="val 1705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611624" y="4687253"/>
            <a:ext cx="407789" cy="407789"/>
          </a:xfrm>
          <a:prstGeom prst="roundRect">
            <a:avLst>
              <a:gd name="adj" fmla="val 22421119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781" y="4799290"/>
            <a:ext cx="183475" cy="1834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1624" y="5176480"/>
            <a:ext cx="1699260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Segment Customers</a:t>
            </a:r>
            <a:endParaRPr lang="en-US" sz="1300" dirty="0">
              <a:latin typeface="Lucida Bright" panose="020406020505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611624" y="5437584"/>
            <a:ext cx="7920752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Distinguish wholesale from retail buyers in reporting to accurately interpret AOV and tailor pricing strategies.</a:t>
            </a:r>
            <a:endParaRPr lang="en-US" sz="1050" dirty="0">
              <a:latin typeface="Lucida Bright" panose="02040602050505020304" pitchFamily="18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475774" y="5828824"/>
            <a:ext cx="8192453" cy="1195983"/>
          </a:xfrm>
          <a:prstGeom prst="roundRect">
            <a:avLst>
              <a:gd name="adj" fmla="val 1705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611624" y="5964674"/>
            <a:ext cx="407789" cy="407789"/>
          </a:xfrm>
          <a:prstGeom prst="roundRect">
            <a:avLst>
              <a:gd name="adj" fmla="val 22421119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781" y="6076712"/>
            <a:ext cx="183475" cy="1834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1624" y="6453902"/>
            <a:ext cx="2304455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Monitor Returns Proactively</a:t>
            </a:r>
            <a:endParaRPr lang="en-US" sz="1300" dirty="0">
              <a:latin typeface="Lucida Bright" panose="02040602050505020304" pitchFamily="18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611624" y="6715006"/>
            <a:ext cx="7920752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Although stable at 3.5%, return root-cause analysis by product category can pre-empt quality issues at scale.</a:t>
            </a:r>
            <a:endParaRPr lang="en-US" sz="105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6067" y="1318141"/>
            <a:ext cx="197429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Project Conclusion</a:t>
            </a:r>
            <a:endParaRPr lang="en-US" sz="1550" dirty="0">
              <a:latin typeface="Lucida Bright" panose="020406020505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866067" y="1608773"/>
            <a:ext cx="3948589" cy="49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Key Takeaways</a:t>
            </a:r>
            <a:endParaRPr lang="en-US" sz="3100" dirty="0">
              <a:latin typeface="Lucida Bright" panose="020406020505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66067" y="2390894"/>
            <a:ext cx="2573298" cy="2250638"/>
          </a:xfrm>
          <a:prstGeom prst="roundRect">
            <a:avLst>
              <a:gd name="adj" fmla="val 4875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43207" y="2390894"/>
            <a:ext cx="91440" cy="2250638"/>
          </a:xfrm>
          <a:prstGeom prst="roundRect">
            <a:avLst>
              <a:gd name="adj" fmla="val 25910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115383" y="2571631"/>
            <a:ext cx="2143244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Data quality is foundational</a:t>
            </a:r>
            <a:endParaRPr lang="en-US" sz="1550" dirty="0">
              <a:latin typeface="Lucida Bright" panose="020406020505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115383" y="3174921"/>
            <a:ext cx="2143244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Rigorous preprocessing — removing invalid prices, separating returns, engineering features — was critical to producing reliable insights.</a:t>
            </a:r>
            <a:endParaRPr lang="en-US" sz="1200" dirty="0">
              <a:latin typeface="Lucida Bright" panose="020406020505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49259" y="2390894"/>
            <a:ext cx="2573298" cy="2250638"/>
          </a:xfrm>
          <a:prstGeom prst="roundRect">
            <a:avLst>
              <a:gd name="adj" fmla="val 4875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26399" y="2390894"/>
            <a:ext cx="91440" cy="2250638"/>
          </a:xfrm>
          <a:prstGeom prst="roundRect">
            <a:avLst>
              <a:gd name="adj" fmla="val 25910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98576" y="2571631"/>
            <a:ext cx="2143244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Seasonality is the dominant pattern</a:t>
            </a:r>
            <a:endParaRPr lang="en-US" sz="1550" dirty="0">
              <a:latin typeface="Lucida Bright" panose="020406020505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98576" y="3174921"/>
            <a:ext cx="214324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Holiday-driven Q4 demand is the single largest lever in this business; planning around it is non-negotiable.</a:t>
            </a:r>
            <a:endParaRPr lang="en-US" sz="1200" dirty="0">
              <a:latin typeface="Lucida Bright" panose="020406020505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66067" y="4751427"/>
            <a:ext cx="2573298" cy="2036326"/>
          </a:xfrm>
          <a:prstGeom prst="roundRect">
            <a:avLst>
              <a:gd name="adj" fmla="val 538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843207" y="4751427"/>
            <a:ext cx="91440" cy="2036326"/>
          </a:xfrm>
          <a:prstGeom prst="roundRect">
            <a:avLst>
              <a:gd name="adj" fmla="val 25910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115383" y="4932164"/>
            <a:ext cx="2143244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Concentration = risk + opportunity</a:t>
            </a:r>
            <a:endParaRPr lang="en-US" sz="1550" dirty="0">
              <a:latin typeface="Lucida Bright" panose="020406020505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15383" y="5535454"/>
            <a:ext cx="2143244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Heavy reliance on the UK and a few key customers demands both strategic protection and active diversification.</a:t>
            </a:r>
            <a:endParaRPr lang="en-US" sz="1200" dirty="0">
              <a:latin typeface="Lucida Bright" panose="020406020505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49259" y="4751427"/>
            <a:ext cx="2573298" cy="2036326"/>
          </a:xfrm>
          <a:prstGeom prst="roundRect">
            <a:avLst>
              <a:gd name="adj" fmla="val 538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26399" y="4751427"/>
            <a:ext cx="91440" cy="2036326"/>
          </a:xfrm>
          <a:prstGeom prst="roundRect">
            <a:avLst>
              <a:gd name="adj" fmla="val 25910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98576" y="4932164"/>
            <a:ext cx="2143244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Returns are under control</a:t>
            </a:r>
            <a:endParaRPr lang="en-US" sz="1550" dirty="0">
              <a:latin typeface="Lucida Bright" panose="020406020505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98576" y="5535454"/>
            <a:ext cx="2143244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A ~3.5% return rate that scales proportionally with sales signals operational stability and consistent fulfilment quality.</a:t>
            </a:r>
            <a:endParaRPr lang="en-US" sz="1200" dirty="0">
              <a:latin typeface="Lucida Bright" panose="020406020505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15463" y="2377083"/>
            <a:ext cx="197429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Tools &amp; Stack</a:t>
            </a:r>
            <a:endParaRPr lang="en-US" sz="1550" dirty="0">
              <a:latin typeface="Lucida Bright" panose="020406020505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515463" y="2747486"/>
            <a:ext cx="2573298" cy="1100971"/>
          </a:xfrm>
          <a:prstGeom prst="roundRect">
            <a:avLst>
              <a:gd name="adj" fmla="val 2152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673340" y="2905363"/>
            <a:ext cx="197429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Python</a:t>
            </a:r>
            <a:endParaRPr lang="en-US" sz="1550" dirty="0">
              <a:latin typeface="Lucida Bright" panose="020406020505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73340" y="3261955"/>
            <a:ext cx="22575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Pandas · NumPy · Matplotlib · Seaborn</a:t>
            </a:r>
            <a:endParaRPr lang="en-US" sz="1200" dirty="0">
              <a:latin typeface="Lucida Bright" panose="020406020505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198656" y="2747486"/>
            <a:ext cx="2573298" cy="1100971"/>
          </a:xfrm>
          <a:prstGeom prst="roundRect">
            <a:avLst>
              <a:gd name="adj" fmla="val 2152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356533" y="2905363"/>
            <a:ext cx="197429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Tableau</a:t>
            </a:r>
            <a:endParaRPr lang="en-US" sz="1550" dirty="0">
              <a:latin typeface="Lucida Bright" panose="020406020505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356533" y="3261955"/>
            <a:ext cx="22575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Interactive dashboard &amp; KPI visualisation</a:t>
            </a:r>
            <a:endParaRPr lang="en-US" sz="1200" dirty="0">
              <a:latin typeface="Lucida Bright" panose="020406020505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515463" y="3958352"/>
            <a:ext cx="5256490" cy="886658"/>
          </a:xfrm>
          <a:prstGeom prst="roundRect">
            <a:avLst>
              <a:gd name="adj" fmla="val 2672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673340" y="4116229"/>
            <a:ext cx="197429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Google Colab</a:t>
            </a:r>
            <a:endParaRPr lang="en-US" sz="1550" dirty="0">
              <a:latin typeface="Lucida Bright" panose="020406020505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673340" y="4472821"/>
            <a:ext cx="4940737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Cloud-based notebook environment</a:t>
            </a:r>
            <a:endParaRPr lang="en-US" sz="1200" dirty="0">
              <a:latin typeface="Lucida Bright" panose="020406020505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515463" y="4968716"/>
            <a:ext cx="5256490" cy="970121"/>
          </a:xfrm>
          <a:prstGeom prst="roundRect">
            <a:avLst>
              <a:gd name="adj" fmla="val 2442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340" y="5195411"/>
            <a:ext cx="197406" cy="157877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028623" y="5118021"/>
            <a:ext cx="458545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Future scope:</a:t>
            </a:r>
            <a:r>
              <a:rPr lang="en-US" sz="1200" dirty="0">
                <a:solidFill>
                  <a:srgbClr val="FFFFFF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 Customer segmentation (RFM), predictive demand forecasting, and product-level return optimisation would meaningfully extend this analysis.</a:t>
            </a:r>
            <a:endParaRPr lang="en-US" sz="120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575A7-F1B8-8A2D-1691-16C4C379C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8A96F9F-42BF-D75C-91D3-5B6550B7D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6812A22-8345-483E-7534-5E8B8FCEF364}"/>
              </a:ext>
            </a:extLst>
          </p:cNvPr>
          <p:cNvSpPr/>
          <p:nvPr/>
        </p:nvSpPr>
        <p:spPr>
          <a:xfrm>
            <a:off x="6280190" y="23432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Lucida Bright" panose="02040602050505020304" pitchFamily="18" charset="0"/>
                <a:ea typeface="Prata" pitchFamily="34" charset="-122"/>
                <a:cs typeface="Prata" pitchFamily="34" charset="-120"/>
              </a:rPr>
              <a:t>THANK YOU!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5EE76E7-D188-4A72-49A1-F10A67B6EC49}"/>
              </a:ext>
            </a:extLst>
          </p:cNvPr>
          <p:cNvSpPr/>
          <p:nvPr/>
        </p:nvSpPr>
        <p:spPr>
          <a:xfrm>
            <a:off x="6280190" y="5452467"/>
            <a:ext cx="1256705" cy="426244"/>
          </a:xfrm>
          <a:prstGeom prst="roundRect">
            <a:avLst>
              <a:gd name="adj" fmla="val 6386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637E5A2-EF4C-8DB7-6F29-F153F523CCD0}"/>
              </a:ext>
            </a:extLst>
          </p:cNvPr>
          <p:cNvSpPr/>
          <p:nvPr/>
        </p:nvSpPr>
        <p:spPr>
          <a:xfrm>
            <a:off x="6416278" y="5520452"/>
            <a:ext cx="98452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K. SREEJANI</a:t>
            </a:r>
            <a:endParaRPr lang="en-US" sz="1400" dirty="0">
              <a:latin typeface="Lucida Bright" panose="02040602050505020304" pitchFamily="18" charset="0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067E1046-0D9A-EFFF-DD3B-BA213FD17C3A}"/>
              </a:ext>
            </a:extLst>
          </p:cNvPr>
          <p:cNvSpPr/>
          <p:nvPr/>
        </p:nvSpPr>
        <p:spPr>
          <a:xfrm>
            <a:off x="6280190" y="6031880"/>
            <a:ext cx="2718844" cy="426244"/>
          </a:xfrm>
          <a:prstGeom prst="roundRect">
            <a:avLst>
              <a:gd name="adj" fmla="val 6386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1D1906-70F2-B1A2-FF22-4349BE8403FF}"/>
              </a:ext>
            </a:extLst>
          </p:cNvPr>
          <p:cNvSpPr txBox="1"/>
          <p:nvPr/>
        </p:nvSpPr>
        <p:spPr>
          <a:xfrm>
            <a:off x="6280190" y="6060336"/>
            <a:ext cx="3432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8B705C"/>
                </a:solidFill>
                <a:latin typeface="Lucida Bright" panose="02040602050505020304" pitchFamily="18" charset="0"/>
              </a:rPr>
              <a:t>kukudalasreejani@gmail.com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F7DDEB09-5E00-24C4-BB90-C3EC9BF12693}"/>
              </a:ext>
            </a:extLst>
          </p:cNvPr>
          <p:cNvSpPr/>
          <p:nvPr/>
        </p:nvSpPr>
        <p:spPr>
          <a:xfrm>
            <a:off x="6276586" y="6611293"/>
            <a:ext cx="2718844" cy="426244"/>
          </a:xfrm>
          <a:prstGeom prst="roundRect">
            <a:avLst>
              <a:gd name="adj" fmla="val 6386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DA7071-2A5C-08E9-7582-E981EB9A71B8}"/>
              </a:ext>
            </a:extLst>
          </p:cNvPr>
          <p:cNvSpPr txBox="1"/>
          <p:nvPr/>
        </p:nvSpPr>
        <p:spPr>
          <a:xfrm>
            <a:off x="6280190" y="6670526"/>
            <a:ext cx="2877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8B705C"/>
                </a:solidFill>
                <a:latin typeface="Lucida Bright" panose="02040602050505020304" pitchFamily="18" charset="0"/>
              </a:rPr>
              <a:t>Skillians August 2025 Batch</a:t>
            </a:r>
          </a:p>
        </p:txBody>
      </p:sp>
    </p:spTree>
    <p:extLst>
      <p:ext uri="{BB962C8B-B14F-4D97-AF65-F5344CB8AC3E}">
        <p14:creationId xmlns:p14="http://schemas.microsoft.com/office/powerpoint/2010/main" val="1115033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817</Words>
  <Application>Microsoft Office PowerPoint</Application>
  <PresentationFormat>Custom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Lucida Bright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Sreejani Kukudala</cp:lastModifiedBy>
  <cp:revision>7</cp:revision>
  <dcterms:created xsi:type="dcterms:W3CDTF">2026-04-03T12:49:51Z</dcterms:created>
  <dcterms:modified xsi:type="dcterms:W3CDTF">2026-04-03T17:56:13Z</dcterms:modified>
</cp:coreProperties>
</file>